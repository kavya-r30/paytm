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1771a85-49ae-e37d-5749-3f14d67ae8a2}">
          <p14:sldIdLst>
            <p14:sldId id="256"/>
          </p14:sldIdLst>
        </p14:section>
        <p14:section name="Problem and solution" id="{17e0de7c-e48d-725d-b89a-8d8c87e0a592}">
          <p14:sldIdLst>
            <p14:sldId id="257"/>
            <p14:sldId id="258"/>
          </p14:sldIdLst>
        </p14:section>
        <p14:section name="Product" id="{5e3c1eac-2ffb-bc2a-7858-963763c2131e}">
          <p14:sldIdLst>
            <p14:sldId id="259"/>
            <p14:sldId id="260"/>
          </p14:sldIdLst>
        </p14:section>
        <p14:section name="AI and trust" id="{fa57dd64-1119-a400-8bb9-3c42c9f96fb9}">
          <p14:sldIdLst>
            <p14:sldId id="261"/>
            <p14:sldId id="262"/>
          </p14:sldIdLst>
        </p14:section>
        <p14:section name="Demo" id="{b0f25e85-aa35-ee59-5772-179e9d80d07d}">
          <p14:sldIdLst>
            <p14:sldId id="263"/>
          </p14:sldIdLst>
        </p14:section>
        <p14:section name="Scale and business" id="{3961611d-22ba-8daf-e76c-ed510a6c31b5}">
          <p14:sldIdLst>
            <p14:sldId id="264"/>
            <p14:sldId id="265"/>
            <p14:sldId id="266"/>
          </p14:sldIdLst>
        </p14:section>
        <p14:section name="Close" id="{381de5f7-599b-77f8-0526-8fc284539b4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Arth turns the Paytm Soundbox every shop already has into an AI business partner the owner talks to in their own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Paytm already sits at the counter of these shops. The gap is everything that happens around the payment: credit, stock, suppliers and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from the owner can open a bill for a customer, add items and put it on khata; Arth answers in the same language and waits for a yes before money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surface talks to the same backend and the same AI, so a reminder sent from WhatsApp shows up on the device and in the Console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module was tested end to end on a live shop in a fresh browser: real backend calls, real state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Arth says comes from a tool; a Grounding Guard blocks anything unsupported. Counter commands like hatao or QR dikhao are instant and skip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tiers come from policy, not from the model. The AI can only propose; people approve.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python dev.py demo, open /stage and /director, and press Next beat. Each beat runs live on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runs on SQLite per environment; the production path swaps storage and transport, not the domain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tier drives adoption across the Soundbox base; Pro converts on recovered udhaar and festival sales; lending and brand offers grow revenue per merchant.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growth claim is measured against a holdout group, so merchants and Paytm see real uplift, not vanity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pilot Arth with a set of Soundbox merchants before Diwali and measure recovered udhaar and festival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h Dark 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h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Arth  ·  Paytm Hackathon 2026  ·  Merchant Growth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h Dark 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Arth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The AI business partner on every Paytm Soundbox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46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Merchant Growth AI  ·  Paytm Hackathon 2026</a:t>
            </a:r>
            <a:endParaRPr lang="en-US" sz="1600" dirty="0"/>
          </a:p>
        </p:txBody>
      </p:sp>
      <p:sp>
        <p:nvSpPr>
          <p:cNvPr id="5" name="Voice circle"/>
          <p:cNvSpPr/>
          <p:nvPr/>
        </p:nvSpPr>
        <p:spPr>
          <a:xfrm>
            <a:off x="8412480" y="146304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Voice icon" descr="Vo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0614" y="2081174"/>
            <a:ext cx="1141171" cy="1141171"/>
          </a:xfrm>
          <a:prstGeom prst="rect">
            <a:avLst/>
          </a:prstGeom>
        </p:spPr>
      </p:pic>
      <p:sp>
        <p:nvSpPr>
          <p:cNvPr id="7" name="Utterance 1"/>
          <p:cNvSpPr/>
          <p:nvPr/>
        </p:nvSpPr>
        <p:spPr>
          <a:xfrm>
            <a:off x="7589520" y="4206240"/>
            <a:ext cx="40233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0" y="4206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"Priya ka bill banao, 2 Parle-G aur ek Maggi"</a:t>
            </a:r>
            <a:endParaRPr lang="en-US" sz="1500" dirty="0"/>
          </a:p>
        </p:txBody>
      </p:sp>
      <p:sp>
        <p:nvSpPr>
          <p:cNvPr id="9" name="Utterance 2"/>
          <p:cNvSpPr/>
          <p:nvPr/>
        </p:nvSpPr>
        <p:spPr>
          <a:xfrm>
            <a:off x="7589520" y="5029200"/>
            <a:ext cx="402336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0" y="5029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"Diwali ke liye kya kar sakte hain?"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Shops take payments digitally but still run on memory and paper</a:t>
            </a:r>
            <a:endParaRPr lang="en-US" sz="3200" dirty="0"/>
          </a:p>
        </p:txBody>
      </p:sp>
      <p:sp>
        <p:nvSpPr>
          <p:cNvPr id="3" name="Pain 1"/>
          <p:cNvSpPr/>
          <p:nvPr/>
        </p:nvSpPr>
        <p:spPr>
          <a:xfrm>
            <a:off x="548640" y="164592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4" name="Udhaar leaks circle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Udhaar leaks icon" descr="Udhaar lea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134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Udhaar leaks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Khata lives in a notebook; dues are forgotten and never chased politely</a:t>
            </a:r>
            <a:endParaRPr lang="en-US" sz="1500" dirty="0"/>
          </a:p>
        </p:txBody>
      </p:sp>
      <p:sp>
        <p:nvSpPr>
          <p:cNvPr id="8" name="Pain 2"/>
          <p:cNvSpPr/>
          <p:nvPr/>
        </p:nvSpPr>
        <p:spPr>
          <a:xfrm>
            <a:off x="3364992" y="164592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9" name="Festival stock-outs circle"/>
          <p:cNvSpPr/>
          <p:nvPr/>
        </p:nvSpPr>
        <p:spPr>
          <a:xfrm>
            <a:off x="3639312" y="19202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Festival stock-outs icon" descr="Festival stock-ou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282" y="213421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Festival stock-outs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forecast, so the best-selling items run out in Diwali week</a:t>
            </a:r>
            <a:endParaRPr lang="en-US" sz="1500" dirty="0"/>
          </a:p>
        </p:txBody>
      </p:sp>
      <p:sp>
        <p:nvSpPr>
          <p:cNvPr id="13" name="Pain 3"/>
          <p:cNvSpPr/>
          <p:nvPr/>
        </p:nvSpPr>
        <p:spPr>
          <a:xfrm>
            <a:off x="6181344" y="164592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4" name="No time for apps circle"/>
          <p:cNvSpPr/>
          <p:nvPr/>
        </p:nvSpPr>
        <p:spPr>
          <a:xfrm>
            <a:off x="6455664" y="19202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No time for apps icon" descr="No time for ap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634" y="213421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time for apps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Business apps want typing in English; the owner is at the counter all day</a:t>
            </a:r>
            <a:endParaRPr lang="en-US" sz="1500" dirty="0"/>
          </a:p>
        </p:txBody>
      </p:sp>
      <p:sp>
        <p:nvSpPr>
          <p:cNvPr id="18" name="Pain 4"/>
          <p:cNvSpPr/>
          <p:nvPr/>
        </p:nvSpPr>
        <p:spPr>
          <a:xfrm>
            <a:off x="8997696" y="164592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9" name="Invisible to lenders circle"/>
          <p:cNvSpPr/>
          <p:nvPr/>
        </p:nvSpPr>
        <p:spPr>
          <a:xfrm>
            <a:off x="9272016" y="19202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nvisible to lenders icon" descr="Invisible to lend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986" y="213421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Invisible to lenders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Without clean records, a good shop cannot show it deserves a loan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The payment is digital. The business behind it is not.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Arth listens, does the work, and asks before it acts</a:t>
            </a:r>
            <a:endParaRPr lang="en-US" sz="3200" dirty="0"/>
          </a:p>
        </p:txBody>
      </p:sp>
      <p:sp>
        <p:nvSpPr>
          <p:cNvPr id="3" name="Owner says 1"/>
          <p:cNvSpPr/>
          <p:nvPr/>
        </p:nvSpPr>
        <p:spPr>
          <a:xfrm>
            <a:off x="548640" y="1600200"/>
            <a:ext cx="51206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"Priya ka bill banao, 2 Parle-G aur ek Maggi… khate mein daal do."</a:t>
            </a:r>
            <a:endParaRPr lang="en-US" sz="1700" dirty="0"/>
          </a:p>
        </p:txBody>
      </p:sp>
      <p:sp>
        <p:nvSpPr>
          <p:cNvPr id="5" name="Owner says 2"/>
          <p:cNvSpPr/>
          <p:nvPr/>
        </p:nvSpPr>
        <p:spPr>
          <a:xfrm>
            <a:off x="548640" y="2971800"/>
            <a:ext cx="512064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9718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"Diwali ke liye kya kar sakte hain?"</a:t>
            </a:r>
            <a:endParaRPr lang="en-US" sz="1700" dirty="0"/>
          </a:p>
        </p:txBody>
      </p:sp>
      <p:sp>
        <p:nvSpPr>
          <p:cNvPr id="7" name="Owner says 3"/>
          <p:cNvSpPr/>
          <p:nvPr/>
        </p:nvSpPr>
        <p:spPr>
          <a:xfrm>
            <a:off x="548640" y="4343400"/>
            <a:ext cx="51206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"Meena ko dues ka message bhejo."</a:t>
            </a:r>
            <a:endParaRPr lang="en-US" sz="1700" dirty="0"/>
          </a:p>
        </p:txBody>
      </p:sp>
      <p:sp>
        <p:nvSpPr>
          <p:cNvPr id="9" name="Hears and speaks circle"/>
          <p:cNvSpPr/>
          <p:nvPr/>
        </p:nvSpPr>
        <p:spPr>
          <a:xfrm>
            <a:off x="6217920" y="16916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Hears and speaks icon" descr="Hears and spea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1929384"/>
            <a:ext cx="438912" cy="43891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6092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Hears and speaks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20574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Hindi, Hinglish, English and five more Indian languages, by voice</a:t>
            </a:r>
            <a:endParaRPr lang="en-US" sz="1500" dirty="0"/>
          </a:p>
        </p:txBody>
      </p:sp>
      <p:sp>
        <p:nvSpPr>
          <p:cNvPr id="13" name="Does the work circle"/>
          <p:cNvSpPr/>
          <p:nvPr/>
        </p:nvSpPr>
        <p:spPr>
          <a:xfrm>
            <a:off x="6217920" y="30632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Does the work icon" descr="Does the wo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330098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60920" y="3017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Does the work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7360920" y="3429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Billing, khata, stock, supplier orders, offers, collections, growth plans</a:t>
            </a:r>
            <a:endParaRPr lang="en-US" sz="1500" dirty="0"/>
          </a:p>
        </p:txBody>
      </p:sp>
      <p:sp>
        <p:nvSpPr>
          <p:cNvPr id="17" name="Asks for your haan circle"/>
          <p:cNvSpPr/>
          <p:nvPr/>
        </p:nvSpPr>
        <p:spPr>
          <a:xfrm>
            <a:off x="6217920" y="44348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Asks for your haan icon" descr="Asks for your ha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467258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60920" y="4389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Asks for your haan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7360920" y="4800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Money and customer messages always wait for the owner’s yes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brain, on every surface the shop already has</a:t>
            </a:r>
            <a:endParaRPr lang="en-US" sz="3200" dirty="0"/>
          </a:p>
        </p:txBody>
      </p:sp>
      <p:sp>
        <p:nvSpPr>
          <p:cNvPr id="3" name="Soundbox device"/>
          <p:cNvSpPr/>
          <p:nvPr/>
        </p:nvSpPr>
        <p:spPr>
          <a:xfrm>
            <a:off x="548640" y="1645920"/>
            <a:ext cx="2057400" cy="4114800"/>
          </a:xfrm>
          <a:prstGeom prst="roundRect">
            <a:avLst>
              <a:gd name="adj" fmla="val 5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4" name="Soundbox device circle"/>
          <p:cNvSpPr/>
          <p:nvPr/>
        </p:nvSpPr>
        <p:spPr>
          <a:xfrm>
            <a:off x="1097280" y="192024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oundbox device icon" descr="Soundbox dev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911" y="216987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Soundbox device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749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Owner and staff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2062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Billing, khata, stock and approvals by voice or tap</a:t>
            </a:r>
            <a:endParaRPr lang="en-US" sz="1400" dirty="0"/>
          </a:p>
        </p:txBody>
      </p:sp>
      <p:sp>
        <p:nvSpPr>
          <p:cNvPr id="9" name="Voice Soundbox"/>
          <p:cNvSpPr/>
          <p:nvPr/>
        </p:nvSpPr>
        <p:spPr>
          <a:xfrm>
            <a:off x="2798064" y="1645920"/>
            <a:ext cx="2057400" cy="41148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0" name="Voice Soundbox circle"/>
          <p:cNvSpPr/>
          <p:nvPr/>
        </p:nvSpPr>
        <p:spPr>
          <a:xfrm>
            <a:off x="3346704" y="192024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Voice Soundbox icon" descr="Voice Sound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335" y="216987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80944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Voice Soundbox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980944" y="3749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Shops without a screen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980944" y="42062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AI through speaker and button</a:t>
            </a:r>
            <a:endParaRPr lang="en-US" sz="1400" dirty="0"/>
          </a:p>
        </p:txBody>
      </p:sp>
      <p:sp>
        <p:nvSpPr>
          <p:cNvPr id="15" name="WhatsApp"/>
          <p:cNvSpPr/>
          <p:nvPr/>
        </p:nvSpPr>
        <p:spPr>
          <a:xfrm>
            <a:off x="5047488" y="1645920"/>
            <a:ext cx="2057400" cy="41148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6" name="WhatsApp circle"/>
          <p:cNvSpPr/>
          <p:nvPr/>
        </p:nvSpPr>
        <p:spPr>
          <a:xfrm>
            <a:off x="5596128" y="192024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WhatsApp icon" descr="WhatsAp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759" y="21698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30368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WhatsApp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230368" y="3749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Customers, suppliers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230368" y="42062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Bills, pay links, dues reminders, orders, POs</a:t>
            </a:r>
            <a:endParaRPr lang="en-US" sz="1400" dirty="0"/>
          </a:p>
        </p:txBody>
      </p:sp>
      <p:sp>
        <p:nvSpPr>
          <p:cNvPr id="21" name="Console app"/>
          <p:cNvSpPr/>
          <p:nvPr/>
        </p:nvSpPr>
        <p:spPr>
          <a:xfrm>
            <a:off x="7296912" y="1645920"/>
            <a:ext cx="2057400" cy="41148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22" name="Console app circle"/>
          <p:cNvSpPr/>
          <p:nvPr/>
        </p:nvSpPr>
        <p:spPr>
          <a:xfrm>
            <a:off x="7845552" y="192024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Console app icon" descr="Console ap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183" y="2169871"/>
            <a:ext cx="460858" cy="46085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79792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Console app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479792" y="3749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Owner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479792" y="42062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Approvals, reports, loans with OTP</a:t>
            </a:r>
            <a:endParaRPr lang="en-US" sz="1400" dirty="0"/>
          </a:p>
        </p:txBody>
      </p:sp>
      <p:sp>
        <p:nvSpPr>
          <p:cNvPr id="27" name="Display + UPI page"/>
          <p:cNvSpPr/>
          <p:nvPr/>
        </p:nvSpPr>
        <p:spPr>
          <a:xfrm>
            <a:off x="9546336" y="1645920"/>
            <a:ext cx="2057400" cy="41148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28" name="Display + UPI page circle"/>
          <p:cNvSpPr/>
          <p:nvPr/>
        </p:nvSpPr>
        <p:spPr>
          <a:xfrm>
            <a:off x="10094976" y="192024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Display + UPI page icon" descr="Display + UPI p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607" y="2169871"/>
            <a:ext cx="460858" cy="46085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29216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Display + UPI page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9729216" y="3749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Customer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729216" y="42062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Sees the bill and pays by QR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Eleven modules cover the whole shop</a:t>
            </a:r>
            <a:endParaRPr lang="en-US" sz="3200" dirty="0"/>
          </a:p>
        </p:txBody>
      </p:sp>
      <p:sp>
        <p:nvSpPr>
          <p:cNvPr id="3" name="Billing"/>
          <p:cNvSpPr/>
          <p:nvPr/>
        </p:nvSpPr>
        <p:spPr>
          <a:xfrm>
            <a:off x="548640" y="15087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4" name="Billing circle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Billing icon" descr="Bil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Billing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Voice, tap or scan; cash, QR or khata</a:t>
            </a:r>
            <a:endParaRPr lang="en-US" sz="1200" dirty="0"/>
          </a:p>
        </p:txBody>
      </p:sp>
      <p:sp>
        <p:nvSpPr>
          <p:cNvPr id="8" name="Khata"/>
          <p:cNvSpPr/>
          <p:nvPr/>
        </p:nvSpPr>
        <p:spPr>
          <a:xfrm>
            <a:off x="3364992" y="15087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9" name="Khata circle"/>
          <p:cNvSpPr/>
          <p:nvPr/>
        </p:nvSpPr>
        <p:spPr>
          <a:xfrm>
            <a:off x="3547872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Khata icon" descr="Kha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19037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25112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Khata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25112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Interest-free udhaar, reminders with pay links</a:t>
            </a:r>
            <a:endParaRPr lang="en-US" sz="1200" dirty="0"/>
          </a:p>
        </p:txBody>
      </p:sp>
      <p:sp>
        <p:nvSpPr>
          <p:cNvPr id="13" name="Stock"/>
          <p:cNvSpPr/>
          <p:nvPr/>
        </p:nvSpPr>
        <p:spPr>
          <a:xfrm>
            <a:off x="6181344" y="15087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4" name="Stock circle"/>
          <p:cNvSpPr/>
          <p:nvPr/>
        </p:nvSpPr>
        <p:spPr>
          <a:xfrm>
            <a:off x="6364224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tock icon" descr="St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645" y="19037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41464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Stock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141464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 stock, expiry, receiving, prices</a:t>
            </a:r>
            <a:endParaRPr lang="en-US" sz="1200" dirty="0"/>
          </a:p>
        </p:txBody>
      </p:sp>
      <p:sp>
        <p:nvSpPr>
          <p:cNvPr id="18" name="Supply"/>
          <p:cNvSpPr/>
          <p:nvPr/>
        </p:nvSpPr>
        <p:spPr>
          <a:xfrm>
            <a:off x="8997696" y="15087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9" name="Supply circle"/>
          <p:cNvSpPr/>
          <p:nvPr/>
        </p:nvSpPr>
        <p:spPr>
          <a:xfrm>
            <a:off x="9180576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upply icon" descr="Suppl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997" y="19037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57816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Supply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957816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 purchase orders, short-delivery claims</a:t>
            </a:r>
            <a:endParaRPr lang="en-US" sz="1200" dirty="0"/>
          </a:p>
        </p:txBody>
      </p:sp>
      <p:sp>
        <p:nvSpPr>
          <p:cNvPr id="23" name="Orders"/>
          <p:cNvSpPr/>
          <p:nvPr/>
        </p:nvSpPr>
        <p:spPr>
          <a:xfrm>
            <a:off x="548640" y="31089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24" name="Orders circle"/>
          <p:cNvSpPr/>
          <p:nvPr/>
        </p:nvSpPr>
        <p:spPr>
          <a:xfrm>
            <a:off x="731520" y="3337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Orders icon" descr="Ord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350398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3310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Orders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50876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WhatsApp and storefront orders to delivery</a:t>
            </a:r>
            <a:endParaRPr lang="en-US" sz="1200" dirty="0"/>
          </a:p>
        </p:txBody>
      </p:sp>
      <p:sp>
        <p:nvSpPr>
          <p:cNvPr id="28" name="Offers"/>
          <p:cNvSpPr/>
          <p:nvPr/>
        </p:nvSpPr>
        <p:spPr>
          <a:xfrm>
            <a:off x="3364992" y="31089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29" name="Offers circle"/>
          <p:cNvSpPr/>
          <p:nvPr/>
        </p:nvSpPr>
        <p:spPr>
          <a:xfrm>
            <a:off x="3547872" y="3337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Offers icon" descr="Off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293" y="350398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325112" y="3310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Offers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4325112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Cashback, coupons, budget caps</a:t>
            </a:r>
            <a:endParaRPr lang="en-US" sz="1200" dirty="0"/>
          </a:p>
        </p:txBody>
      </p:sp>
      <p:sp>
        <p:nvSpPr>
          <p:cNvPr id="33" name="Growth"/>
          <p:cNvSpPr/>
          <p:nvPr/>
        </p:nvSpPr>
        <p:spPr>
          <a:xfrm>
            <a:off x="6181344" y="31089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34" name="Growth circle"/>
          <p:cNvSpPr/>
          <p:nvPr/>
        </p:nvSpPr>
        <p:spPr>
          <a:xfrm>
            <a:off x="6364224" y="3337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Growth icon" descr="Growt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0645" y="3503981"/>
            <a:ext cx="307238" cy="30723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141464" y="3310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Growth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7141464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Why sales moved, festival plans, campaigns</a:t>
            </a:r>
            <a:endParaRPr lang="en-US" sz="1200" dirty="0"/>
          </a:p>
        </p:txBody>
      </p:sp>
      <p:sp>
        <p:nvSpPr>
          <p:cNvPr id="38" name="Hisaab"/>
          <p:cNvSpPr/>
          <p:nvPr/>
        </p:nvSpPr>
        <p:spPr>
          <a:xfrm>
            <a:off x="8997696" y="31089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39" name="Hisaab circle"/>
          <p:cNvSpPr/>
          <p:nvPr/>
        </p:nvSpPr>
        <p:spPr>
          <a:xfrm>
            <a:off x="9180576" y="3337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Hisaab icon" descr="Hisaab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6997" y="3503981"/>
            <a:ext cx="307238" cy="30723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957816" y="3310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Hisaab</a:t>
            </a:r>
            <a:endParaRPr lang="en-US" sz="1800" dirty="0"/>
          </a:p>
        </p:txBody>
      </p:sp>
      <p:sp>
        <p:nvSpPr>
          <p:cNvPr id="42" name="Text 32"/>
          <p:cNvSpPr txBox="1"/>
          <p:nvPr/>
        </p:nvSpPr>
        <p:spPr>
          <a:xfrm>
            <a:off x="9957816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Daily close, settlements, GST summary</a:t>
            </a:r>
            <a:endParaRPr lang="en-US" sz="1200" dirty="0"/>
          </a:p>
        </p:txBody>
      </p:sp>
      <p:sp>
        <p:nvSpPr>
          <p:cNvPr id="43" name="Capital"/>
          <p:cNvSpPr/>
          <p:nvPr/>
        </p:nvSpPr>
        <p:spPr>
          <a:xfrm>
            <a:off x="548640" y="47091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44" name="Capital circle"/>
          <p:cNvSpPr/>
          <p:nvPr/>
        </p:nvSpPr>
        <p:spPr>
          <a:xfrm>
            <a:off x="731520" y="4937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Capital icon" descr="Capita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941" y="5104181"/>
            <a:ext cx="307238" cy="307238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508760" y="4910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Capital</a:t>
            </a:r>
            <a:endParaRPr lang="en-US" sz="1800" dirty="0"/>
          </a:p>
        </p:txBody>
      </p:sp>
      <p:sp>
        <p:nvSpPr>
          <p:cNvPr id="47" name="Text 36"/>
          <p:cNvSpPr txBox="1"/>
          <p:nvPr/>
        </p:nvSpPr>
        <p:spPr>
          <a:xfrm>
            <a:off x="1508760" y="5303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Loan readiness from real sales</a:t>
            </a:r>
            <a:endParaRPr lang="en-US" sz="1200" dirty="0"/>
          </a:p>
        </p:txBody>
      </p:sp>
      <p:sp>
        <p:nvSpPr>
          <p:cNvPr id="48" name="Agents"/>
          <p:cNvSpPr/>
          <p:nvPr/>
        </p:nvSpPr>
        <p:spPr>
          <a:xfrm>
            <a:off x="3364992" y="47091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49" name="Agents circle"/>
          <p:cNvSpPr/>
          <p:nvPr/>
        </p:nvSpPr>
        <p:spPr>
          <a:xfrm>
            <a:off x="3547872" y="4937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0" name="Agents icon" descr="Agent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4293" y="5104181"/>
            <a:ext cx="307238" cy="307238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4325112" y="4910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Agents</a:t>
            </a:r>
            <a:endParaRPr lang="en-US" sz="1800" dirty="0"/>
          </a:p>
        </p:txBody>
      </p:sp>
      <p:sp>
        <p:nvSpPr>
          <p:cNvPr id="52" name="Text 40"/>
          <p:cNvSpPr txBox="1"/>
          <p:nvPr/>
        </p:nvSpPr>
        <p:spPr>
          <a:xfrm>
            <a:off x="4325112" y="5303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Night Shift, Reorder, Collections run themselves</a:t>
            </a:r>
            <a:endParaRPr lang="en-US" sz="1200" dirty="0"/>
          </a:p>
        </p:txBody>
      </p:sp>
      <p:sp>
        <p:nvSpPr>
          <p:cNvPr id="53" name="Trust"/>
          <p:cNvSpPr/>
          <p:nvPr/>
        </p:nvSpPr>
        <p:spPr>
          <a:xfrm>
            <a:off x="6181344" y="47091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54" name="Trust circle"/>
          <p:cNvSpPr/>
          <p:nvPr/>
        </p:nvSpPr>
        <p:spPr>
          <a:xfrm>
            <a:off x="6364224" y="4937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5" name="Trust icon" descr="Trus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0645" y="5104181"/>
            <a:ext cx="307238" cy="307238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7141464" y="4910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Trust</a:t>
            </a:r>
            <a:endParaRPr lang="en-US" sz="1800" dirty="0"/>
          </a:p>
        </p:txBody>
      </p:sp>
      <p:sp>
        <p:nvSpPr>
          <p:cNvPr id="57" name="Text 44"/>
          <p:cNvSpPr txBox="1"/>
          <p:nvPr/>
        </p:nvSpPr>
        <p:spPr>
          <a:xfrm>
            <a:off x="7141464" y="5303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Verifiable audit, consent, data erasure</a:t>
            </a:r>
            <a:endParaRPr lang="en-US" sz="1200" dirty="0"/>
          </a:p>
        </p:txBody>
      </p:sp>
      <p:sp>
        <p:nvSpPr>
          <p:cNvPr id="58" name="Vertical packs"/>
          <p:cNvSpPr/>
          <p:nvPr/>
        </p:nvSpPr>
        <p:spPr>
          <a:xfrm>
            <a:off x="8997696" y="47091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59" name="Text 46"/>
          <p:cNvSpPr txBox="1"/>
          <p:nvPr/>
        </p:nvSpPr>
        <p:spPr>
          <a:xfrm>
            <a:off x="9226296" y="4892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 vertical packs</a:t>
            </a:r>
            <a:endParaRPr lang="en-US" sz="1800" dirty="0"/>
          </a:p>
        </p:txBody>
      </p:sp>
      <p:sp>
        <p:nvSpPr>
          <p:cNvPr id="60" name="Text 47"/>
          <p:cNvSpPr txBox="1"/>
          <p:nvPr/>
        </p:nvSpPr>
        <p:spPr>
          <a:xfrm>
            <a:off x="9226296" y="5349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Kirana · Café · Pharmacy · Salon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AI agent with 30+ tools over the shop’s own data</a:t>
            </a:r>
            <a:endParaRPr lang="en-US" sz="3200" dirty="0"/>
          </a:p>
        </p:txBody>
      </p:sp>
      <p:sp>
        <p:nvSpPr>
          <p:cNvPr id="3" name="Owner speaks circle"/>
          <p:cNvSpPr/>
          <p:nvPr/>
        </p:nvSpPr>
        <p:spPr>
          <a:xfrm>
            <a:off x="105156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Owner speaks icon" descr="Owner spea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174650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Owner speaks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Any of 8 languages</a:t>
            </a:r>
            <a:endParaRPr lang="en-US" sz="1300" dirty="0"/>
          </a:p>
        </p:txBody>
      </p:sp>
      <p:sp>
        <p:nvSpPr>
          <p:cNvPr id="7" name="Flow arrow 1"/>
          <p:cNvSpPr/>
          <p:nvPr/>
        </p:nvSpPr>
        <p:spPr>
          <a:xfrm>
            <a:off x="2240280" y="1828800"/>
            <a:ext cx="4572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arvam Saaras circle"/>
          <p:cNvSpPr/>
          <p:nvPr/>
        </p:nvSpPr>
        <p:spPr>
          <a:xfrm>
            <a:off x="333756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Sarvam Saaras icon" descr="Sarvam Saar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74650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Sarvam Saaras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28346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Speech to text</a:t>
            </a:r>
            <a:endParaRPr lang="en-US" sz="1300" dirty="0"/>
          </a:p>
        </p:txBody>
      </p:sp>
      <p:sp>
        <p:nvSpPr>
          <p:cNvPr id="12" name="Flow arrow 2"/>
          <p:cNvSpPr/>
          <p:nvPr/>
        </p:nvSpPr>
        <p:spPr>
          <a:xfrm>
            <a:off x="4526280" y="1828800"/>
            <a:ext cx="4572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GPT agent circle"/>
          <p:cNvSpPr/>
          <p:nvPr/>
        </p:nvSpPr>
        <p:spPr>
          <a:xfrm>
            <a:off x="562356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GPT agent icon" descr="GPT ag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174650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206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GPT agent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1206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Picks tools, chains actions</a:t>
            </a:r>
            <a:endParaRPr lang="en-US" sz="1300" dirty="0"/>
          </a:p>
        </p:txBody>
      </p:sp>
      <p:sp>
        <p:nvSpPr>
          <p:cNvPr id="17" name="Flow arrow 3"/>
          <p:cNvSpPr/>
          <p:nvPr/>
        </p:nvSpPr>
        <p:spPr>
          <a:xfrm>
            <a:off x="6812280" y="1828800"/>
            <a:ext cx="4572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Command Bus circle"/>
          <p:cNvSpPr/>
          <p:nvPr/>
        </p:nvSpPr>
        <p:spPr>
          <a:xfrm>
            <a:off x="7909560" y="15087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Command Bus icon" descr="Command B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174650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4066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Command Bus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74066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Tier, policy, owner’s haan</a:t>
            </a:r>
            <a:endParaRPr lang="en-US" sz="1300" dirty="0"/>
          </a:p>
        </p:txBody>
      </p:sp>
      <p:sp>
        <p:nvSpPr>
          <p:cNvPr id="22" name="Flow arrow 4"/>
          <p:cNvSpPr/>
          <p:nvPr/>
        </p:nvSpPr>
        <p:spPr>
          <a:xfrm>
            <a:off x="9098280" y="1828800"/>
            <a:ext cx="4572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Bulbul speaks circle"/>
          <p:cNvSpPr/>
          <p:nvPr/>
        </p:nvSpPr>
        <p:spPr>
          <a:xfrm>
            <a:off x="1019556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Bulbul speaks icon" descr="Bulbul speak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304" y="1746504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6926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Bulbul speaks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96926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Grounded answer</a:t>
            </a:r>
            <a:endParaRPr lang="en-US" sz="1300" dirty="0"/>
          </a:p>
        </p:txBody>
      </p:sp>
      <p:sp>
        <p:nvSpPr>
          <p:cNvPr id="27" name="Stat 30+"/>
          <p:cNvSpPr/>
          <p:nvPr/>
        </p:nvSpPr>
        <p:spPr>
          <a:xfrm>
            <a:off x="548640" y="35661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77724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30+</a:t>
            </a:r>
            <a:endParaRPr lang="en-US" sz="3600" dirty="0"/>
          </a:p>
        </p:txBody>
      </p:sp>
      <p:sp>
        <p:nvSpPr>
          <p:cNvPr id="29" name="Text 22"/>
          <p:cNvSpPr txBox="1"/>
          <p:nvPr/>
        </p:nvSpPr>
        <p:spPr>
          <a:xfrm>
            <a:off x="777240" y="4297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tools: sales, stock, khata, forecast, festivals, actions</a:t>
            </a:r>
            <a:endParaRPr lang="en-US" sz="1300" dirty="0"/>
          </a:p>
        </p:txBody>
      </p:sp>
      <p:sp>
        <p:nvSpPr>
          <p:cNvPr id="30" name="Stat 2–6 s"/>
          <p:cNvSpPr/>
          <p:nvPr/>
        </p:nvSpPr>
        <p:spPr>
          <a:xfrm>
            <a:off x="3364992" y="35661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3593592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2–6 s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3593592" y="4297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 AI answer (measured)</a:t>
            </a:r>
            <a:endParaRPr lang="en-US" sz="1300" dirty="0"/>
          </a:p>
        </p:txBody>
      </p:sp>
      <p:sp>
        <p:nvSpPr>
          <p:cNvPr id="33" name="Stat ~₹0.75"/>
          <p:cNvSpPr/>
          <p:nvPr/>
        </p:nvSpPr>
        <p:spPr>
          <a:xfrm>
            <a:off x="6181344" y="35661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6409944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~₹0.75</a:t>
            </a:r>
            <a:endParaRPr lang="en-US" sz="3600" dirty="0"/>
          </a:p>
        </p:txBody>
      </p:sp>
      <p:sp>
        <p:nvSpPr>
          <p:cNvPr id="35" name="Text 28"/>
          <p:cNvSpPr txBox="1"/>
          <p:nvPr/>
        </p:nvSpPr>
        <p:spPr>
          <a:xfrm>
            <a:off x="6409944" y="4297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 AI call (measured)</a:t>
            </a:r>
            <a:endParaRPr lang="en-US" sz="1300" dirty="0"/>
          </a:p>
        </p:txBody>
      </p:sp>
      <p:sp>
        <p:nvSpPr>
          <p:cNvPr id="36" name="Stat 8"/>
          <p:cNvSpPr/>
          <p:nvPr/>
        </p:nvSpPr>
        <p:spPr>
          <a:xfrm>
            <a:off x="8997696" y="35661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37" name="Text 30"/>
          <p:cNvSpPr txBox="1"/>
          <p:nvPr/>
        </p:nvSpPr>
        <p:spPr>
          <a:xfrm>
            <a:off x="9226296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8</a:t>
            </a:r>
            <a:endParaRPr lang="en-US" sz="3600" dirty="0"/>
          </a:p>
        </p:txBody>
      </p:sp>
      <p:sp>
        <p:nvSpPr>
          <p:cNvPr id="38" name="Text 31"/>
          <p:cNvSpPr txBox="1"/>
          <p:nvPr/>
        </p:nvSpPr>
        <p:spPr>
          <a:xfrm>
            <a:off x="9226296" y="4297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Indian languages by voice</a:t>
            </a:r>
            <a:endParaRPr lang="en-US" sz="1300" dirty="0"/>
          </a:p>
        </p:txBody>
      </p:sp>
      <p:sp>
        <p:nvSpPr>
          <p:cNvPr id="39" name="Example turn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822960" y="5212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“Meena ke liye 1 Toor Dal aur 1 Fortune Atta, udhaar mein likh do”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→ opens Meena’s bill, adds both items, puts it on khata, and waits for the owner’s haan (R2)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Built for trust: no money moves without the owner’s haan</a:t>
            </a:r>
            <a:endParaRPr lang="en-US" sz="3200" dirty="0"/>
          </a:p>
        </p:txBody>
      </p:sp>
      <p:sp>
        <p:nvSpPr>
          <p:cNvPr id="3" name="Tier R0"/>
          <p:cNvSpPr/>
          <p:nvPr/>
        </p:nvSpPr>
        <p:spPr>
          <a:xfrm>
            <a:off x="548640" y="1554480"/>
            <a:ext cx="20574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Reads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khud</a:t>
            </a:r>
            <a:endParaRPr lang="en-US" sz="1300" dirty="0"/>
          </a:p>
        </p:txBody>
      </p:sp>
      <p:sp>
        <p:nvSpPr>
          <p:cNvPr id="7" name="Tier R1"/>
          <p:cNvSpPr/>
          <p:nvPr/>
        </p:nvSpPr>
        <p:spPr>
          <a:xfrm>
            <a:off x="2798064" y="1554480"/>
            <a:ext cx="20574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80944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Small changes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undo 30s</a:t>
            </a:r>
            <a:endParaRPr lang="en-US" sz="1300" dirty="0"/>
          </a:p>
        </p:txBody>
      </p:sp>
      <p:sp>
        <p:nvSpPr>
          <p:cNvPr id="11" name="Tier R2"/>
          <p:cNvSpPr/>
          <p:nvPr/>
        </p:nvSpPr>
        <p:spPr>
          <a:xfrm>
            <a:off x="5047488" y="1554480"/>
            <a:ext cx="205740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30368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Money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aapki haan</a:t>
            </a:r>
            <a:endParaRPr lang="en-US" sz="1300" dirty="0"/>
          </a:p>
        </p:txBody>
      </p:sp>
      <p:sp>
        <p:nvSpPr>
          <p:cNvPr id="15" name="Tier R3"/>
          <p:cNvSpPr/>
          <p:nvPr/>
        </p:nvSpPr>
        <p:spPr>
          <a:xfrm>
            <a:off x="7296912" y="1554480"/>
            <a:ext cx="20574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79792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R3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479792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Messages, orders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79792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do baar poochho</a:t>
            </a:r>
            <a:endParaRPr lang="en-US" sz="1300" dirty="0"/>
          </a:p>
        </p:txBody>
      </p:sp>
      <p:sp>
        <p:nvSpPr>
          <p:cNvPr id="19" name="Tier R4"/>
          <p:cNvSpPr/>
          <p:nvPr/>
        </p:nvSpPr>
        <p:spPr>
          <a:xfrm>
            <a:off x="9546336" y="1554480"/>
            <a:ext cx="205740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729216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9729216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Loans, refunds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29216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Console + OTP</a:t>
            </a:r>
            <a:endParaRPr lang="en-US" sz="1300" dirty="0"/>
          </a:p>
        </p:txBody>
      </p:sp>
      <p:sp>
        <p:nvSpPr>
          <p:cNvPr id="23" name="Consent first circle"/>
          <p:cNvSpPr/>
          <p:nvPr/>
        </p:nvSpPr>
        <p:spPr>
          <a:xfrm>
            <a:off x="548640" y="34290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Consent first icon" descr="Consent fir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3631082"/>
            <a:ext cx="373075" cy="37307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508760" y="34107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Consent first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508760" y="381304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WhatsApp to a customer without their own yes; the owner can still send a dues reminder any time to those who agreed</a:t>
            </a:r>
            <a:endParaRPr lang="en-US" sz="1400" dirty="0"/>
          </a:p>
        </p:txBody>
      </p:sp>
      <p:sp>
        <p:nvSpPr>
          <p:cNvPr id="27" name="Fair khata circle"/>
          <p:cNvSpPr/>
          <p:nvPr/>
        </p:nvSpPr>
        <p:spPr>
          <a:xfrm>
            <a:off x="6172200" y="34290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8" name="Fair khata icon" descr="Fair kha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282" y="3631082"/>
            <a:ext cx="373075" cy="37307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132320" y="34107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Fair khata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132320" y="381304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interest, no late fees, no shaming words: a Critic blocks them</a:t>
            </a:r>
            <a:endParaRPr lang="en-US" sz="1400" dirty="0"/>
          </a:p>
        </p:txBody>
      </p:sp>
      <p:sp>
        <p:nvSpPr>
          <p:cNvPr id="31" name="Privacy circle"/>
          <p:cNvSpPr/>
          <p:nvPr/>
        </p:nvSpPr>
        <p:spPr>
          <a:xfrm>
            <a:off x="548640" y="48006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Privacy icon" descr="Privac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5002682"/>
            <a:ext cx="373075" cy="37307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508760" y="47823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Privacy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508760" y="518464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 names are masked before the AI sees them; erasure keeps the audit intact</a:t>
            </a:r>
            <a:endParaRPr lang="en-US" sz="1400" dirty="0"/>
          </a:p>
        </p:txBody>
      </p:sp>
      <p:sp>
        <p:nvSpPr>
          <p:cNvPr id="35" name="Tamper-evident audit circle"/>
          <p:cNvSpPr/>
          <p:nvPr/>
        </p:nvSpPr>
        <p:spPr>
          <a:xfrm>
            <a:off x="6172200" y="48006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6" name="Tamper-evident audit icon" descr="Tamper-evident aud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82" y="5002682"/>
            <a:ext cx="373075" cy="373075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132320" y="47823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Tamper-evident audit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7132320" y="518464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Hash-chained log with a one-tap Verify; agents can never approve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Demo: Gupta General Store, ten days before Diwali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1234440" y="1965960"/>
            <a:ext cx="949147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Beat 1"/>
          <p:cNvSpPr/>
          <p:nvPr/>
        </p:nvSpPr>
        <p:spPr>
          <a:xfrm>
            <a:off x="960120" y="169164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Morning brief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Night Shift ran; 3 reorders wait. “Haan, teeno.”</a:t>
            </a:r>
            <a:endParaRPr lang="en-US" sz="1200" dirty="0"/>
          </a:p>
        </p:txBody>
      </p:sp>
      <p:sp>
        <p:nvSpPr>
          <p:cNvPr id="8" name="Beat 2"/>
          <p:cNvSpPr/>
          <p:nvPr/>
        </p:nvSpPr>
        <p:spPr>
          <a:xfrm>
            <a:off x="2542032" y="16916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30552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Counter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30552" y="306324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Priya’s bill by voice, counter hint, paid by UPI QR</a:t>
            </a:r>
            <a:endParaRPr lang="en-US" sz="1200" dirty="0"/>
          </a:p>
        </p:txBody>
      </p:sp>
      <p:sp>
        <p:nvSpPr>
          <p:cNvPr id="12" name="Beat 3"/>
          <p:cNvSpPr/>
          <p:nvPr/>
        </p:nvSpPr>
        <p:spPr>
          <a:xfrm>
            <a:off x="4123944" y="16916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239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Festival stock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12464" y="306324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Arth drafts a sugar PO; owner says yes</a:t>
            </a:r>
            <a:endParaRPr lang="en-US" sz="1200" dirty="0"/>
          </a:p>
        </p:txBody>
      </p:sp>
      <p:sp>
        <p:nvSpPr>
          <p:cNvPr id="16" name="Beat 4"/>
          <p:cNvSpPr/>
          <p:nvPr/>
        </p:nvSpPr>
        <p:spPr>
          <a:xfrm>
            <a:off x="5705856" y="16916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0585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94376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Fraud check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94376" y="306324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forwarded ₹450 screenshot is verified</a:t>
            </a:r>
            <a:endParaRPr lang="en-US" sz="1200" dirty="0"/>
          </a:p>
        </p:txBody>
      </p:sp>
      <p:sp>
        <p:nvSpPr>
          <p:cNvPr id="20" name="Beat 5"/>
          <p:cNvSpPr/>
          <p:nvPr/>
        </p:nvSpPr>
        <p:spPr>
          <a:xfrm>
            <a:off x="7287768" y="16916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8776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Diwali plan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306324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Diagnosis, plan and live offers</a:t>
            </a:r>
            <a:endParaRPr lang="en-US" sz="1200" dirty="0"/>
          </a:p>
        </p:txBody>
      </p:sp>
      <p:sp>
        <p:nvSpPr>
          <p:cNvPr id="24" name="Beat 6"/>
          <p:cNvSpPr/>
          <p:nvPr/>
        </p:nvSpPr>
        <p:spPr>
          <a:xfrm>
            <a:off x="8869680" y="16916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Khata by voice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306324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“Priya ne 50 jama kiye” → read-back → haan</a:t>
            </a:r>
            <a:endParaRPr lang="en-US" sz="1200" dirty="0"/>
          </a:p>
        </p:txBody>
      </p:sp>
      <p:sp>
        <p:nvSpPr>
          <p:cNvPr id="28" name="Beat 7"/>
          <p:cNvSpPr/>
          <p:nvPr/>
        </p:nvSpPr>
        <p:spPr>
          <a:xfrm>
            <a:off x="10451592" y="16916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5159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040112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Trust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040112" y="306324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Ask in Tamil, then verify the audit</a:t>
            </a:r>
            <a:endParaRPr lang="en-US" sz="1200" dirty="0"/>
          </a:p>
        </p:txBody>
      </p:sp>
      <p:sp>
        <p:nvSpPr>
          <p:cNvPr id="32" name="Stage note"/>
          <p:cNvSpPr/>
          <p:nvPr/>
        </p:nvSpPr>
        <p:spPr>
          <a:xfrm>
            <a:off x="548640" y="43434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33" name="Stage circle"/>
          <p:cNvSpPr/>
          <p:nvPr/>
        </p:nvSpPr>
        <p:spPr>
          <a:xfrm>
            <a:off x="777240" y="45262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Stage icon" descr="St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4740250"/>
            <a:ext cx="395021" cy="395021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828800" y="43891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One stage: the Soundbox device, customer and supplier phones, and live Trace, AI calls and Logs side by side. The saved demo restores in about 3 seconds.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Architected to scale from one shop to Paytm’s merchant base</a:t>
            </a:r>
            <a:endParaRPr lang="en-US" sz="3200" dirty="0"/>
          </a:p>
        </p:txBody>
      </p:sp>
      <p:sp>
        <p:nvSpPr>
          <p:cNvPr id="3" name="Surfaces"/>
          <p:cNvSpPr/>
          <p:nvPr/>
        </p:nvSpPr>
        <p:spPr>
          <a:xfrm>
            <a:off x="548640" y="146304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Surfaces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463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Device · Voice · WhatsApp · Console · Display</a:t>
            </a:r>
            <a:endParaRPr lang="en-US" sz="1300" dirty="0"/>
          </a:p>
        </p:txBody>
      </p:sp>
      <p:sp>
        <p:nvSpPr>
          <p:cNvPr id="6" name="Command Bus"/>
          <p:cNvSpPr/>
          <p:nvPr/>
        </p:nvSpPr>
        <p:spPr>
          <a:xfrm>
            <a:off x="548640" y="237744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Command Bus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377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Tier · policy · approval · audit · events</a:t>
            </a:r>
            <a:endParaRPr lang="en-US" sz="1300" dirty="0"/>
          </a:p>
        </p:txBody>
      </p:sp>
      <p:sp>
        <p:nvSpPr>
          <p:cNvPr id="9" name="Modules + agents"/>
          <p:cNvSpPr/>
          <p:nvPr/>
        </p:nvSpPr>
        <p:spPr>
          <a:xfrm>
            <a:off x="548640" y="329184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291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Modules + agents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3291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11 domains · playbooks · vertical packs</a:t>
            </a:r>
            <a:endParaRPr lang="en-US" sz="1300" dirty="0"/>
          </a:p>
        </p:txBody>
      </p:sp>
      <p:sp>
        <p:nvSpPr>
          <p:cNvPr id="12" name="AI router"/>
          <p:cNvSpPr/>
          <p:nvPr/>
        </p:nvSpPr>
        <p:spPr>
          <a:xfrm>
            <a:off x="548640" y="420624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206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router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4206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Azure GPT · Groq · Sarvam · replay</a:t>
            </a:r>
            <a:endParaRPr lang="en-US" sz="1300" dirty="0"/>
          </a:p>
        </p:txBody>
      </p:sp>
      <p:sp>
        <p:nvSpPr>
          <p:cNvPr id="15" name="Data"/>
          <p:cNvSpPr/>
          <p:nvPr/>
        </p:nvSpPr>
        <p:spPr>
          <a:xfrm>
            <a:off x="548640" y="512064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5120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5120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Per-shop isolation · append-only money rows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146304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new shop type is a config pack, not a rewrite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write goes through one bus: new modules inherit safety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Counter commands skip the model; AI spend is capped per agent per day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Path to scale: Postgres with tenant sharding, Kafka events, stateless API pods, regional model deployments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Billing keeps working offline and syncs later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5720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1,350+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45720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automated tests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45720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16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0" y="45720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demo scenarios × 10 runs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54406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440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vertical packs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54406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&lt; ₹1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5440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back office per shop per day (target)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Monetise through the Soundbox base Paytm already has</a:t>
            </a:r>
            <a:endParaRPr lang="en-US" sz="3200" dirty="0"/>
          </a:p>
        </p:txBody>
      </p:sp>
      <p:sp>
        <p:nvSpPr>
          <p:cNvPr id="3" name="Arth Free"/>
          <p:cNvSpPr/>
          <p:nvPr/>
        </p:nvSpPr>
        <p:spPr>
          <a:xfrm>
            <a:off x="548640" y="1508760"/>
            <a:ext cx="2331720" cy="30175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Arth Free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₹0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Voice billing, today’s sales, khata balance, daily brief</a:t>
            </a:r>
            <a:endParaRPr lang="en-US" sz="1400" dirty="0"/>
          </a:p>
        </p:txBody>
      </p:sp>
      <p:sp>
        <p:nvSpPr>
          <p:cNvPr id="7" name="Arth Pro"/>
          <p:cNvSpPr/>
          <p:nvPr/>
        </p:nvSpPr>
        <p:spPr>
          <a:xfrm>
            <a:off x="3063240" y="1508760"/>
            <a:ext cx="2331720" cy="3017520"/>
          </a:xfrm>
          <a:prstGeom prst="roundRect">
            <a:avLst>
              <a:gd name="adj" fmla="val 470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9184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Arth Pro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₹99–199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 / month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8346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Reminders with pay links, stock and reorders, offers, festival plans, WhatsApp orders</a:t>
            </a:r>
            <a:endParaRPr lang="en-US" sz="1400" dirty="0"/>
          </a:p>
        </p:txBody>
      </p:sp>
      <p:sp>
        <p:nvSpPr>
          <p:cNvPr id="11" name="Arth Business"/>
          <p:cNvSpPr/>
          <p:nvPr/>
        </p:nvSpPr>
        <p:spPr>
          <a:xfrm>
            <a:off x="5577840" y="1508760"/>
            <a:ext cx="2331720" cy="30175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80644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Arth Business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₹399+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 / month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8346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Multiple staff, pharmacy / café / salon packs, GST reports, storefront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091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Pricing is a proposal; it rides on the Soundbox rental, with no new hardware.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Beyond subscriptions</a:t>
            </a:r>
            <a:endParaRPr lang="en-US" sz="1800" dirty="0"/>
          </a:p>
        </p:txBody>
      </p:sp>
      <p:sp>
        <p:nvSpPr>
          <p:cNvPr id="17" name="Lending circle"/>
          <p:cNvSpPr/>
          <p:nvPr/>
        </p:nvSpPr>
        <p:spPr>
          <a:xfrm>
            <a:off x="8229600" y="20116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Lending icon" descr="Len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6021" y="2178101"/>
            <a:ext cx="307238" cy="30723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06840" y="19842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Lending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006840" y="2304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Sales-backed loan offers; distribution fees</a:t>
            </a:r>
            <a:endParaRPr lang="en-US" sz="1200" dirty="0"/>
          </a:p>
        </p:txBody>
      </p:sp>
      <p:sp>
        <p:nvSpPr>
          <p:cNvPr id="21" name="Brand-funded offers circle"/>
          <p:cNvSpPr/>
          <p:nvPr/>
        </p:nvSpPr>
        <p:spPr>
          <a:xfrm>
            <a:off x="8229600" y="29718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Brand-funded offers icon" descr="Brand-funded off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021" y="3138221"/>
            <a:ext cx="307238" cy="30723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29443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Brand-funded offers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9006840" y="32644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Brands pay for item coupons and cashback</a:t>
            </a:r>
            <a:endParaRPr lang="en-US" sz="1200" dirty="0"/>
          </a:p>
        </p:txBody>
      </p:sp>
      <p:sp>
        <p:nvSpPr>
          <p:cNvPr id="25" name="Payment volume circle"/>
          <p:cNvSpPr/>
          <p:nvPr/>
        </p:nvSpPr>
        <p:spPr>
          <a:xfrm>
            <a:off x="8229600" y="3931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Payment volume icon" descr="Payment volu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4098341"/>
            <a:ext cx="307238" cy="30723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006840" y="39044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Payment volume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006840" y="42245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Pay links in reminders recover udhaar via UPI</a:t>
            </a:r>
            <a:endParaRPr lang="en-US" sz="1200" dirty="0"/>
          </a:p>
        </p:txBody>
      </p:sp>
      <p:sp>
        <p:nvSpPr>
          <p:cNvPr id="29" name="Supplier network circle"/>
          <p:cNvSpPr/>
          <p:nvPr/>
        </p:nvSpPr>
        <p:spPr>
          <a:xfrm>
            <a:off x="8229600" y="48920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Supplier network icon" descr="Supplier netwo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021" y="5058461"/>
            <a:ext cx="307238" cy="30723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006840" y="4864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Supplier network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9006840" y="51846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Commission on POs placed through Arth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Pilot at Diwali, sell outcomes, scale by language and vertical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90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Pilot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562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2–3 cities, kirana first, timed with Diwali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548640" y="2606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87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Sell outcomes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9535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“Udhaar recovered”, “no stock-out this Diwali”, “loan-ready”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548640" y="3703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685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Onboard in 5 minutes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0507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Paytm field agents set up by voice; Arth guides the owner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548640" y="4800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782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Expand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48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Café, pharmacy, salon packs and more regional voices</a:t>
            </a:r>
            <a:endParaRPr lang="en-US" sz="1400" dirty="0"/>
          </a:p>
        </p:txBody>
      </p:sp>
      <p:sp>
        <p:nvSpPr>
          <p:cNvPr id="19" name="Impact metrics"/>
          <p:cNvSpPr/>
          <p:nvPr/>
        </p:nvSpPr>
        <p:spPr>
          <a:xfrm>
            <a:off x="6309360" y="1508760"/>
            <a:ext cx="530352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B1B3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we will measure</a:t>
            </a:r>
            <a:endParaRPr lang="en-US" sz="1800" dirty="0"/>
          </a:p>
        </p:txBody>
      </p:sp>
      <p:sp>
        <p:nvSpPr>
          <p:cNvPr id="21" name="Metric 1 circle"/>
          <p:cNvSpPr/>
          <p:nvPr/>
        </p:nvSpPr>
        <p:spPr>
          <a:xfrm>
            <a:off x="6583680" y="22860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Metric 1 icon" descr="Metric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0665" y="2392985"/>
            <a:ext cx="197510" cy="19751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178040" y="2240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Khata recovered per shop per month, days to collect</a:t>
            </a:r>
            <a:endParaRPr lang="en-US" sz="1500" dirty="0"/>
          </a:p>
        </p:txBody>
      </p:sp>
      <p:sp>
        <p:nvSpPr>
          <p:cNvPr id="24" name="Metric 2 circle"/>
          <p:cNvSpPr/>
          <p:nvPr/>
        </p:nvSpPr>
        <p:spPr>
          <a:xfrm>
            <a:off x="6583680" y="29718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Metric 2 icon" descr="Metric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665" y="3078785"/>
            <a:ext cx="197510" cy="19751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926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Stock-outs in festival weeks</a:t>
            </a:r>
            <a:endParaRPr lang="en-US" sz="1500" dirty="0"/>
          </a:p>
        </p:txBody>
      </p:sp>
      <p:sp>
        <p:nvSpPr>
          <p:cNvPr id="27" name="Metric 3 circle"/>
          <p:cNvSpPr/>
          <p:nvPr/>
        </p:nvSpPr>
        <p:spPr>
          <a:xfrm>
            <a:off x="6583680" y="36576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8" name="Metric 3 icon" descr="Metric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665" y="3764585"/>
            <a:ext cx="197510" cy="19751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178040" y="3611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Repeat customers and sales uplift against a holdout group</a:t>
            </a:r>
            <a:endParaRPr lang="en-US" sz="1500" dirty="0"/>
          </a:p>
        </p:txBody>
      </p:sp>
      <p:sp>
        <p:nvSpPr>
          <p:cNvPr id="30" name="Metric 4 circle"/>
          <p:cNvSpPr/>
          <p:nvPr/>
        </p:nvSpPr>
        <p:spPr>
          <a:xfrm>
            <a:off x="6583680" y="43434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Metric 4 icon" descr="Metric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665" y="4450385"/>
            <a:ext cx="197510" cy="19751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178040" y="4297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UPI share of collections, loan-ready merchants</a:t>
            </a:r>
            <a:endParaRPr lang="en-US" sz="1500" dirty="0"/>
          </a:p>
        </p:txBody>
      </p:sp>
      <p:sp>
        <p:nvSpPr>
          <p:cNvPr id="33" name="Metric 5 circle"/>
          <p:cNvSpPr/>
          <p:nvPr/>
        </p:nvSpPr>
        <p:spPr>
          <a:xfrm>
            <a:off x="6583680" y="50292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4" name="Metric 5 icon" descr="Metric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665" y="5136185"/>
            <a:ext cx="197510" cy="19751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178040" y="4983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Owner minutes saved per day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Roadmap: from pilot to every Paytm counter</a:t>
            </a:r>
            <a:endParaRPr lang="en-US" sz="3200" dirty="0"/>
          </a:p>
        </p:txBody>
      </p:sp>
      <p:sp>
        <p:nvSpPr>
          <p:cNvPr id="3" name="3 months"/>
          <p:cNvSpPr/>
          <p:nvPr/>
        </p:nvSpPr>
        <p:spPr>
          <a:xfrm>
            <a:off x="548640" y="15087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 months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Live pilot · WhatsApp Business API · Paytm payment rails · more regional voices</a:t>
            </a:r>
            <a:endParaRPr lang="en-US" sz="1500" dirty="0"/>
          </a:p>
        </p:txBody>
      </p:sp>
      <p:sp>
        <p:nvSpPr>
          <p:cNvPr id="6" name="6 months"/>
          <p:cNvSpPr/>
          <p:nvPr/>
        </p:nvSpPr>
        <p:spPr>
          <a:xfrm>
            <a:off x="4297680" y="15087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 months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240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Supplier marketplace · brand-funded offers · Console lending with partners</a:t>
            </a:r>
            <a:endParaRPr lang="en-US" sz="1500" dirty="0"/>
          </a:p>
        </p:txBody>
      </p:sp>
      <p:sp>
        <p:nvSpPr>
          <p:cNvPr id="9" name="12 months"/>
          <p:cNvSpPr/>
          <p:nvPr/>
        </p:nvSpPr>
        <p:spPr>
          <a:xfrm>
            <a:off x="8046720" y="15087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12 months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240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All vertical packs · multi-store chains · per-shop restock and credit-risk models</a:t>
            </a:r>
            <a:endParaRPr lang="en-US" sz="1500" dirty="0"/>
          </a:p>
        </p:txBody>
      </p:sp>
      <p:sp>
        <p:nvSpPr>
          <p:cNvPr id="12" name="Every shop circle"/>
          <p:cNvSpPr/>
          <p:nvPr/>
        </p:nvSpPr>
        <p:spPr>
          <a:xfrm>
            <a:off x="548640" y="416052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Every shop icon" descr="Every sh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4517136"/>
            <a:ext cx="658368" cy="6583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194560" y="4206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Arth: har dukaan ka AI partner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4937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Thank you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h">
  <a:themeElements>
    <a:clrScheme name="Arth">
      <a:dk1>
        <a:srgbClr val="0B1B33"/>
      </a:dk1>
      <a:lt1>
        <a:srgbClr val="FFFFFF"/>
      </a:lt1>
      <a:dk2>
        <a:srgbClr val="002E6E"/>
      </a:dk2>
      <a:lt2>
        <a:srgbClr val="F5F7FA"/>
      </a:lt2>
      <a:accent1>
        <a:srgbClr val="00BAF2"/>
      </a:accent1>
      <a:accent2>
        <a:srgbClr val="F5A524"/>
      </a:accent2>
      <a:accent3>
        <a:srgbClr val="067647"/>
      </a:accent3>
      <a:accent4>
        <a:srgbClr val="0077B6"/>
      </a:accent4>
      <a:accent5>
        <a:srgbClr val="E8F8FE"/>
      </a:accent5>
      <a:accent6>
        <a:srgbClr val="D0103F"/>
      </a:accent6>
      <a:hlink>
        <a:srgbClr val="0077B6"/>
      </a:hlink>
      <a:folHlink>
        <a:srgbClr val="002E6E"/>
      </a:folHlink>
    </a:clrScheme>
    <a:fontScheme name="Art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Arth: the AI business partner on every Paytm Soundbox</dc:title>
  <dc:subject>PptxGenJS Presentation</dc:subject>
  <dc:creator>Team Arth</dc:creator>
  <cp:lastModifiedBy>Team Arth</cp:lastModifiedBy>
  <cp:revision>1</cp:revision>
  <dcterms:created xsi:type="dcterms:W3CDTF">2026-10-31T11:51:52Z</dcterms:created>
  <dcterms:modified xsi:type="dcterms:W3CDTF">2026-10-31T11:51:52Z</dcterms:modified>
</cp:coreProperties>
</file>